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40" autoAdjust="0"/>
    <p:restoredTop sz="94660"/>
  </p:normalViewPr>
  <p:slideViewPr>
    <p:cSldViewPr snapToGrid="0">
      <p:cViewPr varScale="1">
        <p:scale>
          <a:sx n="69" d="100"/>
          <a:sy n="69" d="100"/>
        </p:scale>
        <p:origin x="8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74126F-49AE-4407-AEEB-1EEA9A9B62F2}" type="datetimeFigureOut">
              <a:rPr lang="id-ID" smtClean="0"/>
              <a:t>23/02/2023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2820679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A74126F-49AE-4407-AEEB-1EEA9A9B62F2}" type="datetimeFigureOut">
              <a:rPr lang="id-ID" smtClean="0"/>
              <a:t>23/02/2023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564575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A74126F-49AE-4407-AEEB-1EEA9A9B62F2}" type="datetimeFigureOut">
              <a:rPr lang="id-ID" smtClean="0"/>
              <a:t>23/02/2023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618835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A74126F-49AE-4407-AEEB-1EEA9A9B62F2}" type="datetimeFigureOut">
              <a:rPr lang="id-ID" smtClean="0"/>
              <a:t>23/02/2023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1572785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A74126F-49AE-4407-AEEB-1EEA9A9B62F2}" type="datetimeFigureOut">
              <a:rPr lang="id-ID" smtClean="0"/>
              <a:t>23/02/2023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3398056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A74126F-49AE-4407-AEEB-1EEA9A9B62F2}" type="datetimeFigureOut">
              <a:rPr lang="id-ID" smtClean="0"/>
              <a:t>23/02/2023</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1182146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74126F-49AE-4407-AEEB-1EEA9A9B62F2}" type="datetimeFigureOut">
              <a:rPr lang="id-ID" smtClean="0"/>
              <a:t>23/02/2023</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3188355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A74126F-49AE-4407-AEEB-1EEA9A9B62F2}" type="datetimeFigureOut">
              <a:rPr lang="id-ID" smtClean="0"/>
              <a:t>23/02/2023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3915047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A74126F-49AE-4407-AEEB-1EEA9A9B62F2}" type="datetimeFigureOut">
              <a:rPr lang="id-ID" smtClean="0"/>
              <a:t>23/02/2023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2522357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A74126F-49AE-4407-AEEB-1EEA9A9B62F2}" type="datetimeFigureOut">
              <a:rPr lang="id-ID" smtClean="0"/>
              <a:t>23/02/2023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530397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A74126F-49AE-4407-AEEB-1EEA9A9B62F2}" type="datetimeFigureOut">
              <a:rPr lang="id-ID" smtClean="0"/>
              <a:t>23/02/2023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D2DB64E-D9E3-4D79-B9DD-FAE554222A76}" type="slidenum">
              <a:rPr lang="id-ID" smtClean="0"/>
              <a:t>‹#›</a:t>
            </a:fld>
            <a:endParaRPr lang="id-ID"/>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09962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A74126F-49AE-4407-AEEB-1EEA9A9B62F2}" type="datetimeFigureOut">
              <a:rPr lang="id-ID" smtClean="0"/>
              <a:t>23/02/2023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3136859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A74126F-49AE-4407-AEEB-1EEA9A9B62F2}" type="datetimeFigureOut">
              <a:rPr lang="id-ID" smtClean="0"/>
              <a:t>23/02/2023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D2DB64E-D9E3-4D79-B9DD-FAE554222A76}" type="slidenum">
              <a:rPr lang="id-ID" smtClean="0"/>
              <a:t>‹#›</a:t>
            </a:fld>
            <a:endParaRPr lang="id-ID"/>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25787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A74126F-49AE-4407-AEEB-1EEA9A9B62F2}" type="datetimeFigureOut">
              <a:rPr lang="id-ID" smtClean="0"/>
              <a:t>23/02/2023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16534029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A74126F-49AE-4407-AEEB-1EEA9A9B62F2}" type="datetimeFigureOut">
              <a:rPr lang="id-ID" smtClean="0"/>
              <a:t>23/02/2023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26534022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A74126F-49AE-4407-AEEB-1EEA9A9B62F2}" type="datetimeFigureOut">
              <a:rPr lang="id-ID" smtClean="0"/>
              <a:t>23/02/2023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D2DB64E-D9E3-4D79-B9DD-FAE554222A76}" type="slidenum">
              <a:rPr lang="id-ID" smtClean="0"/>
              <a:t>‹#›</a:t>
            </a:fld>
            <a:endParaRPr lang="id-ID"/>
          </a:p>
        </p:txBody>
      </p:sp>
    </p:spTree>
    <p:extLst>
      <p:ext uri="{BB962C8B-B14F-4D97-AF65-F5344CB8AC3E}">
        <p14:creationId xmlns:p14="http://schemas.microsoft.com/office/powerpoint/2010/main" val="3253674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A74126F-49AE-4407-AEEB-1EEA9A9B62F2}" type="datetimeFigureOut">
              <a:rPr lang="id-ID" smtClean="0"/>
              <a:t>23/02/2023</a:t>
            </a:fld>
            <a:endParaRPr lang="id-ID"/>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D2DB64E-D9E3-4D79-B9DD-FAE554222A76}" type="slidenum">
              <a:rPr lang="id-ID" smtClean="0"/>
              <a:t>‹#›</a:t>
            </a:fld>
            <a:endParaRPr lang="id-ID"/>
          </a:p>
        </p:txBody>
      </p:sp>
    </p:spTree>
    <p:extLst>
      <p:ext uri="{BB962C8B-B14F-4D97-AF65-F5344CB8AC3E}">
        <p14:creationId xmlns:p14="http://schemas.microsoft.com/office/powerpoint/2010/main" val="197314506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871131"/>
            <a:ext cx="12192000" cy="1841887"/>
          </a:xfrm>
        </p:spPr>
        <p:txBody>
          <a:bodyPr/>
          <a:lstStyle/>
          <a:p>
            <a:pPr algn="ctr"/>
            <a:r>
              <a:rPr lang="id-ID" sz="6000" b="1" dirty="0" smtClean="0">
                <a:latin typeface="Times New Roman" panose="02020603050405020304" pitchFamily="18" charset="0"/>
                <a:cs typeface="Times New Roman" panose="02020603050405020304" pitchFamily="18" charset="0"/>
              </a:rPr>
              <a:t>KEPELABUHANAN</a:t>
            </a:r>
            <a:endParaRPr lang="id-ID" sz="6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34885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2727" y="2369127"/>
            <a:ext cx="9060873" cy="3506742"/>
          </a:xfrm>
        </p:spPr>
        <p:txBody>
          <a:bodyPr/>
          <a:lstStyle/>
          <a:p>
            <a:pPr marL="0" indent="0" algn="just">
              <a:buNone/>
            </a:pPr>
            <a:r>
              <a:rPr lang="id-ID" sz="2400" dirty="0">
                <a:latin typeface="Times New Roman" panose="02020603050405020304" pitchFamily="18" charset="0"/>
                <a:cs typeface="Times New Roman" panose="02020603050405020304" pitchFamily="18" charset="0"/>
              </a:rPr>
              <a:t>Kepelabuhanan adalah segala sesuatu yang berkaitan dengan pelaksanaan fungsi pelabuhan untuk menunjang kelancaran, keamanan, dan ketertiban arus lalu lintas kapal, penumpang dan/atau barang, keselamatan dan keamanan berlayar, tempat perpindahan intra-dan/atau antarmoda serta mendorong perekonomian nasional dan daerah dengan tetap memperhatikan tata ruang wilayah.</a:t>
            </a:r>
          </a:p>
          <a:p>
            <a:pPr marL="0" indent="0">
              <a:buNone/>
            </a:pPr>
            <a:endParaRPr lang="id-ID" dirty="0"/>
          </a:p>
        </p:txBody>
      </p:sp>
    </p:spTree>
    <p:extLst>
      <p:ext uri="{BB962C8B-B14F-4D97-AF65-F5344CB8AC3E}">
        <p14:creationId xmlns:p14="http://schemas.microsoft.com/office/powerpoint/2010/main" val="26116365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09600"/>
            <a:ext cx="12192000" cy="831273"/>
          </a:xfrm>
        </p:spPr>
        <p:txBody>
          <a:bodyPr>
            <a:normAutofit/>
          </a:bodyPr>
          <a:lstStyle/>
          <a:p>
            <a:pPr algn="ctr"/>
            <a:r>
              <a:rPr lang="id-ID" b="1" dirty="0" smtClean="0">
                <a:latin typeface="Times New Roman" panose="02020603050405020304" pitchFamily="18" charset="0"/>
                <a:cs typeface="Times New Roman" panose="02020603050405020304" pitchFamily="18" charset="0"/>
              </a:rPr>
              <a:t>FUNGSI PELABUHAN</a:t>
            </a:r>
            <a:endParaRPr lang="id-ID"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537855"/>
            <a:ext cx="9933709" cy="5320145"/>
          </a:xfrm>
        </p:spPr>
        <p:txBody>
          <a:bodyPr>
            <a:normAutofit lnSpcReduction="10000"/>
          </a:bodyPr>
          <a:lstStyle/>
          <a:p>
            <a:pPr marL="0" indent="0" algn="just">
              <a:buNone/>
            </a:pPr>
            <a:r>
              <a:rPr lang="id-ID" sz="2400" dirty="0">
                <a:latin typeface="Times New Roman" panose="02020603050405020304" pitchFamily="18" charset="0"/>
                <a:cs typeface="Times New Roman" panose="02020603050405020304" pitchFamily="18" charset="0"/>
              </a:rPr>
              <a:t>Setelah mengetahui apa arti dari pelabuhan, tidak ada salahnya untuk mengenal lebih rinci tentang fungsi pelabuhan. Pelabuhan memiliki beberapa fungsi yang dapat dibedakan sesuai istilahnya. Inilah beberapa fungsi tersebut</a:t>
            </a:r>
            <a:r>
              <a:rPr lang="id-ID" sz="2400" dirty="0" smtClean="0">
                <a:latin typeface="Times New Roman" panose="02020603050405020304" pitchFamily="18" charset="0"/>
                <a:cs typeface="Times New Roman" panose="02020603050405020304" pitchFamily="18" charset="0"/>
              </a:rPr>
              <a:t>.</a:t>
            </a:r>
          </a:p>
          <a:p>
            <a:pPr marL="0" indent="0" algn="just">
              <a:buNone/>
            </a:pPr>
            <a:r>
              <a:rPr lang="id-ID" sz="2400" b="1" dirty="0">
                <a:latin typeface="Times New Roman" panose="02020603050405020304" pitchFamily="18" charset="0"/>
                <a:cs typeface="Times New Roman" panose="02020603050405020304" pitchFamily="18" charset="0"/>
              </a:rPr>
              <a:t>Gateway</a:t>
            </a:r>
            <a:endParaRPr lang="id-ID" sz="2400" dirty="0">
              <a:latin typeface="Times New Roman" panose="02020603050405020304" pitchFamily="18" charset="0"/>
              <a:cs typeface="Times New Roman" panose="02020603050405020304" pitchFamily="18" charset="0"/>
            </a:endParaRPr>
          </a:p>
          <a:p>
            <a:pPr marL="0" indent="0" algn="just">
              <a:buNone/>
            </a:pPr>
            <a:r>
              <a:rPr lang="id-ID" sz="2400" dirty="0">
                <a:latin typeface="Times New Roman" panose="02020603050405020304" pitchFamily="18" charset="0"/>
                <a:cs typeface="Times New Roman" panose="02020603050405020304" pitchFamily="18" charset="0"/>
              </a:rPr>
              <a:t>Maksud dari gateway adalah, pelabuhan berfungsi sebagai pintu gerbang untuk bisa memasuki suatu negara. Kapal yang berlabuh pasti bertujuan mengantarkan isi barang atau muatan lain kepada kota lain atau bahkan negara lain. Disini, pelabuhan berperan sebagai perantara awal proses tersebut</a:t>
            </a:r>
            <a:r>
              <a:rPr lang="id-ID" sz="2400" dirty="0" smtClean="0">
                <a:latin typeface="Times New Roman" panose="02020603050405020304" pitchFamily="18" charset="0"/>
                <a:cs typeface="Times New Roman" panose="02020603050405020304" pitchFamily="18" charset="0"/>
              </a:rPr>
              <a:t>.</a:t>
            </a:r>
          </a:p>
          <a:p>
            <a:pPr marL="0" indent="0">
              <a:buNone/>
            </a:pPr>
            <a:r>
              <a:rPr lang="id-ID" sz="2400" b="1" dirty="0">
                <a:latin typeface="Times New Roman" panose="02020603050405020304" pitchFamily="18" charset="0"/>
                <a:cs typeface="Times New Roman" panose="02020603050405020304" pitchFamily="18" charset="0"/>
              </a:rPr>
              <a:t>Interface</a:t>
            </a:r>
            <a:endParaRPr lang="id-ID" sz="2400" dirty="0">
              <a:latin typeface="Times New Roman" panose="02020603050405020304" pitchFamily="18" charset="0"/>
              <a:cs typeface="Times New Roman" panose="02020603050405020304" pitchFamily="18" charset="0"/>
            </a:endParaRPr>
          </a:p>
          <a:p>
            <a:pPr marL="0" indent="0">
              <a:buNone/>
            </a:pPr>
            <a:r>
              <a:rPr lang="id-ID" sz="2400" dirty="0">
                <a:latin typeface="Times New Roman" panose="02020603050405020304" pitchFamily="18" charset="0"/>
                <a:cs typeface="Times New Roman" panose="02020603050405020304" pitchFamily="18" charset="0"/>
              </a:rPr>
              <a:t>Dalam fungsi pelabuhan sebagai interface ini berarti bahwa pelabuhan menjadi penghubung antara darat dengan lautan. Misalnya seperti saat barang dari kapal akan didistribusikan melalui daratan. Nah, pelabuhan menjadi penghubung terjadinya mobilisasi tersebut.</a:t>
            </a:r>
          </a:p>
          <a:p>
            <a:pPr marL="0" indent="0" algn="just">
              <a:buNone/>
            </a:pPr>
            <a:endParaRPr lang="id-ID" sz="2400" dirty="0">
              <a:latin typeface="Times New Roman" panose="02020603050405020304" pitchFamily="18" charset="0"/>
              <a:cs typeface="Times New Roman" panose="02020603050405020304" pitchFamily="18" charset="0"/>
            </a:endParaRPr>
          </a:p>
          <a:p>
            <a:pPr marL="0" indent="0">
              <a:buNone/>
            </a:pPr>
            <a:endParaRPr lang="id-ID" dirty="0">
              <a:latin typeface="Times New Roman" panose="02020603050405020304" pitchFamily="18" charset="0"/>
              <a:cs typeface="Times New Roman" panose="02020603050405020304" pitchFamily="18" charset="0"/>
            </a:endParaRPr>
          </a:p>
          <a:p>
            <a:endParaRPr lang="id-ID"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99131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68582"/>
            <a:ext cx="9989127" cy="4987636"/>
          </a:xfrm>
        </p:spPr>
        <p:txBody>
          <a:bodyPr>
            <a:normAutofit/>
          </a:bodyPr>
          <a:lstStyle/>
          <a:p>
            <a:pPr marL="0" indent="0" algn="just">
              <a:buNone/>
            </a:pPr>
            <a:r>
              <a:rPr lang="id-ID" sz="2400" b="1" dirty="0" smtClean="0">
                <a:latin typeface="Times New Roman" panose="02020603050405020304" pitchFamily="18" charset="0"/>
                <a:cs typeface="Times New Roman" panose="02020603050405020304" pitchFamily="18" charset="0"/>
              </a:rPr>
              <a:t>Link</a:t>
            </a:r>
            <a:endParaRPr lang="id-ID" sz="2400" dirty="0">
              <a:latin typeface="Times New Roman" panose="02020603050405020304" pitchFamily="18" charset="0"/>
              <a:cs typeface="Times New Roman" panose="02020603050405020304" pitchFamily="18" charset="0"/>
            </a:endParaRPr>
          </a:p>
          <a:p>
            <a:pPr marL="0" indent="0" algn="just">
              <a:buNone/>
            </a:pPr>
            <a:r>
              <a:rPr lang="id-ID" sz="2400" dirty="0">
                <a:latin typeface="Times New Roman" panose="02020603050405020304" pitchFamily="18" charset="0"/>
                <a:cs typeface="Times New Roman" panose="02020603050405020304" pitchFamily="18" charset="0"/>
              </a:rPr>
              <a:t>Link berarti pelabuhan berfungsi sebagai mata rantai proses sampainya barang ke tangan konsumen. Melalui pelabuhan, barang dari produsen yang diantar melalui kapal, akan disalurkan kepada konsumen. Pelabuhan ini menjadi jalur mempermudah distribusi ke tangan konsumen.</a:t>
            </a:r>
          </a:p>
          <a:p>
            <a:pPr marL="0" indent="0" algn="just">
              <a:buNone/>
            </a:pPr>
            <a:r>
              <a:rPr lang="id-ID" sz="2400" b="1" dirty="0">
                <a:latin typeface="Times New Roman" panose="02020603050405020304" pitchFamily="18" charset="0"/>
                <a:cs typeface="Times New Roman" panose="02020603050405020304" pitchFamily="18" charset="0"/>
              </a:rPr>
              <a:t>Industry entity</a:t>
            </a:r>
            <a:endParaRPr lang="id-ID" sz="2400" dirty="0">
              <a:latin typeface="Times New Roman" panose="02020603050405020304" pitchFamily="18" charset="0"/>
              <a:cs typeface="Times New Roman" panose="02020603050405020304" pitchFamily="18" charset="0"/>
            </a:endParaRPr>
          </a:p>
          <a:p>
            <a:pPr marL="0" indent="0" algn="just">
              <a:buNone/>
            </a:pPr>
            <a:r>
              <a:rPr lang="id-ID" sz="2400" dirty="0">
                <a:latin typeface="Times New Roman" panose="02020603050405020304" pitchFamily="18" charset="0"/>
                <a:cs typeface="Times New Roman" panose="02020603050405020304" pitchFamily="18" charset="0"/>
              </a:rPr>
              <a:t>Ini berarti pelabuhan berfungsi sebagai kawasan industri. Hal ini disebabkan karena pelabuhan lalu lintasnya semakin ramai. Alhasil, lingkungan disekitarnya akan menjadi kawasan industri dengan fasilitas yang memadai</a:t>
            </a:r>
          </a:p>
          <a:p>
            <a:endParaRPr lang="id-ID" dirty="0"/>
          </a:p>
        </p:txBody>
      </p:sp>
    </p:spTree>
    <p:extLst>
      <p:ext uri="{BB962C8B-B14F-4D97-AF65-F5344CB8AC3E}">
        <p14:creationId xmlns:p14="http://schemas.microsoft.com/office/powerpoint/2010/main" val="6075923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09600"/>
            <a:ext cx="12192000" cy="720436"/>
          </a:xfrm>
        </p:spPr>
        <p:txBody>
          <a:bodyPr>
            <a:normAutofit fontScale="90000"/>
          </a:bodyPr>
          <a:lstStyle/>
          <a:p>
            <a:pPr algn="ctr"/>
            <a:r>
              <a:rPr lang="id-ID" sz="4000" b="1" dirty="0">
                <a:latin typeface="Times New Roman" panose="02020603050405020304" pitchFamily="18" charset="0"/>
                <a:cs typeface="Times New Roman" panose="02020603050405020304" pitchFamily="18" charset="0"/>
              </a:rPr>
              <a:t>Manfaat Pelabuhan</a:t>
            </a:r>
            <a:r>
              <a:rPr lang="id-ID" dirty="0"/>
              <a:t/>
            </a:r>
            <a:br>
              <a:rPr lang="id-ID" dirty="0"/>
            </a:br>
            <a:endParaRPr lang="id-ID" dirty="0"/>
          </a:p>
        </p:txBody>
      </p:sp>
      <p:sp>
        <p:nvSpPr>
          <p:cNvPr id="3" name="Content Placeholder 2"/>
          <p:cNvSpPr>
            <a:spLocks noGrp="1"/>
          </p:cNvSpPr>
          <p:nvPr>
            <p:ph idx="1"/>
          </p:nvPr>
        </p:nvSpPr>
        <p:spPr>
          <a:xfrm>
            <a:off x="110835" y="1330036"/>
            <a:ext cx="9670473" cy="5375563"/>
          </a:xfrm>
        </p:spPr>
        <p:txBody>
          <a:bodyPr/>
          <a:lstStyle/>
          <a:p>
            <a:pPr marL="0" indent="0" algn="just">
              <a:buNone/>
            </a:pPr>
            <a:r>
              <a:rPr lang="id-ID" sz="2400" dirty="0">
                <a:latin typeface="Times New Roman" panose="02020603050405020304" pitchFamily="18" charset="0"/>
                <a:cs typeface="Times New Roman" panose="02020603050405020304" pitchFamily="18" charset="0"/>
              </a:rPr>
              <a:t>Selain fungsi yang dibedakan menjadi empat istilah di atas, pelabuhan juga memiliki manfaat. Berikut ini beberapa manfaat pelabuhan tersebut.</a:t>
            </a:r>
          </a:p>
          <a:p>
            <a:pPr marL="0" indent="0" algn="just">
              <a:buNone/>
            </a:pPr>
            <a:r>
              <a:rPr lang="id-ID" sz="2400" b="1" dirty="0">
                <a:latin typeface="Times New Roman" panose="02020603050405020304" pitchFamily="18" charset="0"/>
                <a:cs typeface="Times New Roman" panose="02020603050405020304" pitchFamily="18" charset="0"/>
              </a:rPr>
              <a:t>Melayani Kebutuhan Ekspor Impor</a:t>
            </a:r>
            <a:endParaRPr lang="id-ID" sz="2400" dirty="0">
              <a:latin typeface="Times New Roman" panose="02020603050405020304" pitchFamily="18" charset="0"/>
              <a:cs typeface="Times New Roman" panose="02020603050405020304" pitchFamily="18" charset="0"/>
            </a:endParaRPr>
          </a:p>
          <a:p>
            <a:pPr marL="0" indent="0" algn="just">
              <a:buNone/>
            </a:pPr>
            <a:r>
              <a:rPr lang="id-ID" sz="2400" dirty="0">
                <a:latin typeface="Times New Roman" panose="02020603050405020304" pitchFamily="18" charset="0"/>
                <a:cs typeface="Times New Roman" panose="02020603050405020304" pitchFamily="18" charset="0"/>
              </a:rPr>
              <a:t>Setiap negara yang melakukan ekspor dan impor pasti akan berkaitan dengan kebijakan pemasaran barang internasional. Satu-satunya jalur paling mudah disini adalah jalur laut. Dalam hal ini, pelabuhan sangat berperan dalam melayani kebutuhan ekspor maupun impor barang tersebut</a:t>
            </a:r>
            <a:r>
              <a:rPr lang="id-ID" sz="2400" dirty="0" smtClean="0">
                <a:latin typeface="Times New Roman" panose="02020603050405020304" pitchFamily="18" charset="0"/>
                <a:cs typeface="Times New Roman" panose="02020603050405020304" pitchFamily="18" charset="0"/>
              </a:rPr>
              <a:t>.</a:t>
            </a:r>
          </a:p>
          <a:p>
            <a:pPr marL="0" indent="0" algn="just">
              <a:buNone/>
            </a:pPr>
            <a:r>
              <a:rPr lang="id-ID" sz="2400" b="1" dirty="0">
                <a:latin typeface="Times New Roman" panose="02020603050405020304" pitchFamily="18" charset="0"/>
                <a:cs typeface="Times New Roman" panose="02020603050405020304" pitchFamily="18" charset="0"/>
              </a:rPr>
              <a:t>Membantu Kelancaran Roda Perekonomian Antar Pulau</a:t>
            </a:r>
            <a:endParaRPr lang="id-ID" sz="2400" dirty="0">
              <a:latin typeface="Times New Roman" panose="02020603050405020304" pitchFamily="18" charset="0"/>
              <a:cs typeface="Times New Roman" panose="02020603050405020304" pitchFamily="18" charset="0"/>
            </a:endParaRPr>
          </a:p>
          <a:p>
            <a:pPr marL="0" indent="0" algn="just">
              <a:buNone/>
            </a:pPr>
            <a:r>
              <a:rPr lang="id-ID" sz="2400" dirty="0">
                <a:latin typeface="Times New Roman" panose="02020603050405020304" pitchFamily="18" charset="0"/>
                <a:cs typeface="Times New Roman" panose="02020603050405020304" pitchFamily="18" charset="0"/>
              </a:rPr>
              <a:t>Seperti pepatah yang mengatakan laut bukan pembatas, melainkan penghubung. Di sinilah fungsi laut sebagai pemersatu antarpulau melalui kapal. Sementara itu, pelabuhan merupakan salah satu alatnya. Di Indonesia sendiri, jenis pelabuhan yang seperti ini sangatlah banyak</a:t>
            </a:r>
          </a:p>
          <a:p>
            <a:pPr marL="0" indent="0" algn="just">
              <a:buNone/>
            </a:pPr>
            <a:endParaRPr lang="id-ID" sz="2400" dirty="0">
              <a:latin typeface="Times New Roman" panose="02020603050405020304" pitchFamily="18" charset="0"/>
              <a:cs typeface="Times New Roman" panose="02020603050405020304" pitchFamily="18" charset="0"/>
            </a:endParaRPr>
          </a:p>
          <a:p>
            <a:pPr marL="0" indent="0">
              <a:buNone/>
            </a:pPr>
            <a:endParaRPr lang="id-ID" dirty="0"/>
          </a:p>
        </p:txBody>
      </p:sp>
    </p:spTree>
    <p:extLst>
      <p:ext uri="{BB962C8B-B14F-4D97-AF65-F5344CB8AC3E}">
        <p14:creationId xmlns:p14="http://schemas.microsoft.com/office/powerpoint/2010/main" val="18174756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676400"/>
            <a:ext cx="9642764" cy="5029199"/>
          </a:xfrm>
        </p:spPr>
        <p:txBody>
          <a:bodyPr/>
          <a:lstStyle/>
          <a:p>
            <a:pPr marL="0" indent="0" algn="just">
              <a:buNone/>
            </a:pPr>
            <a:r>
              <a:rPr lang="id-ID" sz="2400" b="1" dirty="0">
                <a:latin typeface="Times New Roman" panose="02020603050405020304" pitchFamily="18" charset="0"/>
                <a:cs typeface="Times New Roman" panose="02020603050405020304" pitchFamily="18" charset="0"/>
              </a:rPr>
              <a:t>Menampung Pangsa Pasar Internasional Yang Semakin Besar</a:t>
            </a:r>
            <a:endParaRPr lang="id-ID" sz="2400" dirty="0">
              <a:latin typeface="Times New Roman" panose="02020603050405020304" pitchFamily="18" charset="0"/>
              <a:cs typeface="Times New Roman" panose="02020603050405020304" pitchFamily="18" charset="0"/>
            </a:endParaRPr>
          </a:p>
          <a:p>
            <a:pPr marL="0" indent="0" algn="just">
              <a:buNone/>
            </a:pPr>
            <a:r>
              <a:rPr lang="id-ID" sz="2400" dirty="0">
                <a:latin typeface="Times New Roman" panose="02020603050405020304" pitchFamily="18" charset="0"/>
                <a:cs typeface="Times New Roman" panose="02020603050405020304" pitchFamily="18" charset="0"/>
              </a:rPr>
              <a:t>Maraknya perdagangan internasional mendorong semakin berkembangnya produk di pasar. Hal ini menjadikan pelabuhan sebagai tempat yang menampung barang masuk dan keluar maupun barang  yang transit.</a:t>
            </a:r>
          </a:p>
          <a:p>
            <a:pPr marL="0" indent="0" algn="just">
              <a:buNone/>
            </a:pPr>
            <a:r>
              <a:rPr lang="id-ID" sz="2400" b="1" dirty="0">
                <a:latin typeface="Times New Roman" panose="02020603050405020304" pitchFamily="18" charset="0"/>
                <a:cs typeface="Times New Roman" panose="02020603050405020304" pitchFamily="18" charset="0"/>
              </a:rPr>
              <a:t>Mendorong pertumbuhan ekonomi daerah</a:t>
            </a:r>
            <a:endParaRPr lang="id-ID" sz="2400" dirty="0">
              <a:latin typeface="Times New Roman" panose="02020603050405020304" pitchFamily="18" charset="0"/>
              <a:cs typeface="Times New Roman" panose="02020603050405020304" pitchFamily="18" charset="0"/>
            </a:endParaRPr>
          </a:p>
          <a:p>
            <a:pPr marL="0" indent="0" algn="just">
              <a:buNone/>
            </a:pPr>
            <a:r>
              <a:rPr lang="id-ID" sz="2400" dirty="0">
                <a:latin typeface="Times New Roman" panose="02020603050405020304" pitchFamily="18" charset="0"/>
                <a:cs typeface="Times New Roman" panose="02020603050405020304" pitchFamily="18" charset="0"/>
              </a:rPr>
              <a:t>Bagi daerah sekitar pelabuhan yang perekonomiannya kurang maju, tempat ini bisa dijadikan solusi untuk memperbaiki perekonomian. Dalam hal ini, pelabuhan berkontribusi terhadap pertumbuhan ekonomi daerah.</a:t>
            </a:r>
          </a:p>
          <a:p>
            <a:pPr marL="0" indent="0">
              <a:buNone/>
            </a:pPr>
            <a:endParaRPr lang="id-ID" dirty="0"/>
          </a:p>
        </p:txBody>
      </p:sp>
    </p:spTree>
    <p:extLst>
      <p:ext uri="{BB962C8B-B14F-4D97-AF65-F5344CB8AC3E}">
        <p14:creationId xmlns:p14="http://schemas.microsoft.com/office/powerpoint/2010/main" val="15350503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09600"/>
            <a:ext cx="12192000" cy="886691"/>
          </a:xfrm>
        </p:spPr>
        <p:txBody>
          <a:bodyPr>
            <a:normAutofit fontScale="90000"/>
          </a:bodyPr>
          <a:lstStyle/>
          <a:p>
            <a:pPr algn="ctr"/>
            <a:r>
              <a:rPr lang="id-ID" sz="4000" b="1" dirty="0">
                <a:latin typeface="Times New Roman" panose="02020603050405020304" pitchFamily="18" charset="0"/>
                <a:cs typeface="Times New Roman" panose="02020603050405020304" pitchFamily="18" charset="0"/>
              </a:rPr>
              <a:t>Jenis-Jenis Pelabuhan</a:t>
            </a:r>
            <a:r>
              <a:rPr lang="id-ID" dirty="0"/>
              <a:t/>
            </a:r>
            <a:br>
              <a:rPr lang="id-ID" dirty="0"/>
            </a:br>
            <a:endParaRPr lang="id-ID" dirty="0"/>
          </a:p>
        </p:txBody>
      </p:sp>
      <p:sp>
        <p:nvSpPr>
          <p:cNvPr id="3" name="Content Placeholder 2"/>
          <p:cNvSpPr>
            <a:spLocks noGrp="1"/>
          </p:cNvSpPr>
          <p:nvPr>
            <p:ph idx="1"/>
          </p:nvPr>
        </p:nvSpPr>
        <p:spPr>
          <a:xfrm>
            <a:off x="-1" y="1219201"/>
            <a:ext cx="9684327" cy="5458690"/>
          </a:xfrm>
        </p:spPr>
        <p:txBody>
          <a:bodyPr>
            <a:normAutofit lnSpcReduction="10000"/>
          </a:bodyPr>
          <a:lstStyle/>
          <a:p>
            <a:pPr marL="0" indent="0" algn="just">
              <a:buNone/>
            </a:pPr>
            <a:r>
              <a:rPr lang="id-ID" sz="2400" dirty="0">
                <a:latin typeface="Times New Roman" panose="02020603050405020304" pitchFamily="18" charset="0"/>
                <a:cs typeface="Times New Roman" panose="02020603050405020304" pitchFamily="18" charset="0"/>
              </a:rPr>
              <a:t>Pelabuhan dapat digolongkan menjadi beberapa jenis. Pembagian ini bisa ditinjau dari segi penggunaanya, badan penyelenggaranya, dan fungsinya. Untuk lebih jelasnya, langsung saja simak penjelasan berikut ini.</a:t>
            </a:r>
          </a:p>
          <a:p>
            <a:pPr marL="0" lvl="0" indent="0" algn="just">
              <a:buNone/>
            </a:pPr>
            <a:r>
              <a:rPr lang="id-ID" sz="2400" b="1" dirty="0" smtClean="0">
                <a:latin typeface="Times New Roman" panose="02020603050405020304" pitchFamily="18" charset="0"/>
                <a:cs typeface="Times New Roman" panose="02020603050405020304" pitchFamily="18" charset="0"/>
              </a:rPr>
              <a:t>1. Jenis </a:t>
            </a:r>
            <a:r>
              <a:rPr lang="id-ID" sz="2400" b="1" dirty="0">
                <a:latin typeface="Times New Roman" panose="02020603050405020304" pitchFamily="18" charset="0"/>
                <a:cs typeface="Times New Roman" panose="02020603050405020304" pitchFamily="18" charset="0"/>
              </a:rPr>
              <a:t>Pelabuhan Berdasarkan Penggunanya</a:t>
            </a:r>
            <a:endParaRPr lang="id-ID" sz="2400" dirty="0">
              <a:latin typeface="Times New Roman" panose="02020603050405020304" pitchFamily="18" charset="0"/>
              <a:cs typeface="Times New Roman" panose="02020603050405020304" pitchFamily="18" charset="0"/>
            </a:endParaRPr>
          </a:p>
          <a:p>
            <a:pPr marL="0" indent="0" algn="just">
              <a:buNone/>
            </a:pPr>
            <a:r>
              <a:rPr lang="id-ID" sz="2400" dirty="0">
                <a:latin typeface="Times New Roman" panose="02020603050405020304" pitchFamily="18" charset="0"/>
                <a:cs typeface="Times New Roman" panose="02020603050405020304" pitchFamily="18" charset="0"/>
              </a:rPr>
              <a:t>Ada dua jenis pelabuhan berdasarkan penggunanya, keduanya adalah pelabuhan yang membuka perdagangan luar negeri dan tidak.</a:t>
            </a:r>
          </a:p>
          <a:p>
            <a:pPr marL="0" indent="0" algn="just">
              <a:buNone/>
            </a:pPr>
            <a:r>
              <a:rPr lang="id-ID" sz="2400" dirty="0">
                <a:latin typeface="Times New Roman" panose="02020603050405020304" pitchFamily="18" charset="0"/>
                <a:cs typeface="Times New Roman" panose="02020603050405020304" pitchFamily="18" charset="0"/>
              </a:rPr>
              <a:t>Pelabuhan yang membuka perdagangan luar negeri adalah jenis pelabuhan yang memberikan akses kapal-kapal asing untuk singgah. Kapal asing ini memang hanya diizinkan masuk ke dalam pelabuhan tertentu yang mendukung adanya perdagangan internasional.</a:t>
            </a:r>
          </a:p>
          <a:p>
            <a:pPr marL="0" indent="0" algn="just">
              <a:buNone/>
            </a:pPr>
            <a:r>
              <a:rPr lang="id-ID" sz="2400" dirty="0">
                <a:latin typeface="Times New Roman" panose="02020603050405020304" pitchFamily="18" charset="0"/>
                <a:cs typeface="Times New Roman" panose="02020603050405020304" pitchFamily="18" charset="0"/>
              </a:rPr>
              <a:t>Sebaliknya, pelabuhan yang tidak membuka perdagangan luar negeri adalah jenis pelabuhan yang hanya dibangun untuk kepentingan lalu lintas dalam negeri saja. Pelabuhan ini cenderung melayani transaksi antar pulau dalam satu negara.</a:t>
            </a:r>
          </a:p>
          <a:p>
            <a:pPr marL="0" indent="0">
              <a:buNone/>
            </a:pPr>
            <a:endParaRPr lang="id-ID" dirty="0"/>
          </a:p>
        </p:txBody>
      </p:sp>
    </p:spTree>
    <p:extLst>
      <p:ext uri="{BB962C8B-B14F-4D97-AF65-F5344CB8AC3E}">
        <p14:creationId xmlns:p14="http://schemas.microsoft.com/office/powerpoint/2010/main" val="34840242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527" y="734291"/>
            <a:ext cx="9393382" cy="5888182"/>
          </a:xfrm>
        </p:spPr>
        <p:txBody>
          <a:bodyPr>
            <a:normAutofit fontScale="92500" lnSpcReduction="10000"/>
          </a:bodyPr>
          <a:lstStyle/>
          <a:p>
            <a:pPr marL="0" lvl="0" indent="0" algn="just">
              <a:buNone/>
            </a:pPr>
            <a:r>
              <a:rPr lang="id-ID" sz="2600" b="1" dirty="0" smtClean="0">
                <a:latin typeface="Times New Roman" panose="02020603050405020304" pitchFamily="18" charset="0"/>
                <a:cs typeface="Times New Roman" panose="02020603050405020304" pitchFamily="18" charset="0"/>
              </a:rPr>
              <a:t>2. Jenis </a:t>
            </a:r>
            <a:r>
              <a:rPr lang="id-ID" sz="2600" b="1" dirty="0">
                <a:latin typeface="Times New Roman" panose="02020603050405020304" pitchFamily="18" charset="0"/>
                <a:cs typeface="Times New Roman" panose="02020603050405020304" pitchFamily="18" charset="0"/>
              </a:rPr>
              <a:t>Pelabuhan Berdasarkan Penyelenggaranya</a:t>
            </a:r>
            <a:endParaRPr lang="id-ID" sz="2600" dirty="0">
              <a:latin typeface="Times New Roman" panose="02020603050405020304" pitchFamily="18" charset="0"/>
              <a:cs typeface="Times New Roman" panose="02020603050405020304" pitchFamily="18" charset="0"/>
            </a:endParaRPr>
          </a:p>
          <a:p>
            <a:pPr marL="0" indent="0" algn="just">
              <a:buNone/>
            </a:pPr>
            <a:r>
              <a:rPr lang="id-ID" sz="2600" b="1" dirty="0">
                <a:latin typeface="Times New Roman" panose="02020603050405020304" pitchFamily="18" charset="0"/>
                <a:cs typeface="Times New Roman" panose="02020603050405020304" pitchFamily="18" charset="0"/>
              </a:rPr>
              <a:t>Pelabuhan Umum</a:t>
            </a:r>
            <a:endParaRPr lang="id-ID" sz="2600" dirty="0">
              <a:latin typeface="Times New Roman" panose="02020603050405020304" pitchFamily="18" charset="0"/>
              <a:cs typeface="Times New Roman" panose="02020603050405020304" pitchFamily="18" charset="0"/>
            </a:endParaRPr>
          </a:p>
          <a:p>
            <a:pPr marL="0" indent="0" algn="just">
              <a:buNone/>
            </a:pPr>
            <a:r>
              <a:rPr lang="id-ID" sz="2600" dirty="0">
                <a:latin typeface="Times New Roman" panose="02020603050405020304" pitchFamily="18" charset="0"/>
                <a:cs typeface="Times New Roman" panose="02020603050405020304" pitchFamily="18" charset="0"/>
              </a:rPr>
              <a:t>Pelabuhan umum yaitu pelabuhan yang diselenggarakan oleh badan usaha pelabuhan maupun pemerintah. Pelabuhan seperti ini sifatnya lebih resmi karena diawasi langsung oleh pihak pemerintah atau badan usaha </a:t>
            </a:r>
            <a:r>
              <a:rPr lang="id-ID" sz="2600" dirty="0" smtClean="0">
                <a:latin typeface="Times New Roman" panose="02020603050405020304" pitchFamily="18" charset="0"/>
                <a:cs typeface="Times New Roman" panose="02020603050405020304" pitchFamily="18" charset="0"/>
              </a:rPr>
              <a:t>terkait. Pelabuhan </a:t>
            </a:r>
            <a:r>
              <a:rPr lang="id-ID" sz="2600" dirty="0">
                <a:latin typeface="Times New Roman" panose="02020603050405020304" pitchFamily="18" charset="0"/>
                <a:cs typeface="Times New Roman" panose="02020603050405020304" pitchFamily="18" charset="0"/>
              </a:rPr>
              <a:t>umum pun dibedakan menjadi dua, yaitu pelabuhan umum yang dijadikan usaha dan pelabuhan umum yang tidak dijadikan usaha. Pelabuhan tersebut bisa diartikan sesuai definisinya masing-masing</a:t>
            </a:r>
          </a:p>
          <a:p>
            <a:pPr marL="0" indent="0" algn="just">
              <a:buNone/>
            </a:pPr>
            <a:r>
              <a:rPr lang="id-ID" sz="2600" dirty="0">
                <a:latin typeface="Times New Roman" panose="02020603050405020304" pitchFamily="18" charset="0"/>
                <a:cs typeface="Times New Roman" panose="02020603050405020304" pitchFamily="18" charset="0"/>
              </a:rPr>
              <a:t>Pelabuhan yang dijadikan usaha tentu dibangun dengan sengaja untuk mencapai tujuan tertentu. Pelabuhan ini biasanya dilengkapi dengan fasilitas-fasilitas pendukung.</a:t>
            </a:r>
          </a:p>
          <a:p>
            <a:pPr marL="0" indent="0" algn="just">
              <a:buNone/>
            </a:pPr>
            <a:r>
              <a:rPr lang="id-ID" sz="2600" dirty="0">
                <a:latin typeface="Times New Roman" panose="02020603050405020304" pitchFamily="18" charset="0"/>
                <a:cs typeface="Times New Roman" panose="02020603050405020304" pitchFamily="18" charset="0"/>
              </a:rPr>
              <a:t>Contoh jenis pelabuhan tersebut adalah pelabuhan Tanjung Priok di Jakarta dan pelabuhan Tanjung Perak  di </a:t>
            </a:r>
            <a:r>
              <a:rPr lang="id-ID" sz="2600" dirty="0" smtClean="0">
                <a:latin typeface="Times New Roman" panose="02020603050405020304" pitchFamily="18" charset="0"/>
                <a:cs typeface="Times New Roman" panose="02020603050405020304" pitchFamily="18" charset="0"/>
              </a:rPr>
              <a:t>Surabaya. Sedangkan </a:t>
            </a:r>
            <a:r>
              <a:rPr lang="id-ID" sz="2600" dirty="0">
                <a:latin typeface="Times New Roman" panose="02020603050405020304" pitchFamily="18" charset="0"/>
                <a:cs typeface="Times New Roman" panose="02020603050405020304" pitchFamily="18" charset="0"/>
              </a:rPr>
              <a:t>pelabuhan yang tidak diusahakan merupakan pelabuhan yang hanya digunakan untuk tempat singgah kapal saja. Dengan begitu, pelabuhan ini tidak dilengkapi fasilitas pendukung. Diantaranya contohnya adalah Pelabuhan Sepekan.</a:t>
            </a:r>
          </a:p>
          <a:p>
            <a:pPr marL="0" indent="0">
              <a:buNone/>
            </a:pPr>
            <a:endParaRPr lang="id-ID" dirty="0"/>
          </a:p>
        </p:txBody>
      </p:sp>
    </p:spTree>
    <p:extLst>
      <p:ext uri="{BB962C8B-B14F-4D97-AF65-F5344CB8AC3E}">
        <p14:creationId xmlns:p14="http://schemas.microsoft.com/office/powerpoint/2010/main" val="34851021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0" y="1773381"/>
            <a:ext cx="9961418" cy="4268643"/>
          </a:xfrm>
        </p:spPr>
        <p:txBody>
          <a:bodyPr/>
          <a:lstStyle/>
          <a:p>
            <a:pPr marL="0" indent="0" algn="just">
              <a:buNone/>
            </a:pPr>
            <a:r>
              <a:rPr lang="id-ID" sz="2400" b="1" dirty="0">
                <a:latin typeface="Times New Roman" panose="02020603050405020304" pitchFamily="18" charset="0"/>
                <a:cs typeface="Times New Roman" panose="02020603050405020304" pitchFamily="18" charset="0"/>
              </a:rPr>
              <a:t>Pelabuhan Khusus</a:t>
            </a:r>
            <a:endParaRPr lang="id-ID" sz="2400" dirty="0">
              <a:latin typeface="Times New Roman" panose="02020603050405020304" pitchFamily="18" charset="0"/>
              <a:cs typeface="Times New Roman" panose="02020603050405020304" pitchFamily="18" charset="0"/>
            </a:endParaRPr>
          </a:p>
          <a:p>
            <a:pPr marL="0" indent="0" algn="just">
              <a:buNone/>
            </a:pPr>
            <a:r>
              <a:rPr lang="id-ID" sz="2400" dirty="0">
                <a:latin typeface="Times New Roman" panose="02020603050405020304" pitchFamily="18" charset="0"/>
                <a:cs typeface="Times New Roman" panose="02020603050405020304" pitchFamily="18" charset="0"/>
              </a:rPr>
              <a:t>Pelabuhan khusus merupakan pelabuhan yang diselenggarakan oleh badan hukum tertentu.</a:t>
            </a:r>
          </a:p>
          <a:p>
            <a:pPr marL="0" indent="0" algn="just">
              <a:buNone/>
            </a:pPr>
            <a:r>
              <a:rPr lang="id-ID" sz="2400" dirty="0">
                <a:latin typeface="Times New Roman" panose="02020603050405020304" pitchFamily="18" charset="0"/>
                <a:cs typeface="Times New Roman" panose="02020603050405020304" pitchFamily="18" charset="0"/>
              </a:rPr>
              <a:t>Pelabuhan ini difungsikan untuk hal-hal khusus, seperti kepentingan tertentu pada suatu perusahaan. Tujuannya adalah untuk menjamin kelancaran kegiatan tertentu dari badan yang mengelolanya.</a:t>
            </a:r>
          </a:p>
          <a:p>
            <a:endParaRPr lang="id-ID" dirty="0"/>
          </a:p>
        </p:txBody>
      </p:sp>
    </p:spTree>
    <p:extLst>
      <p:ext uri="{BB962C8B-B14F-4D97-AF65-F5344CB8AC3E}">
        <p14:creationId xmlns:p14="http://schemas.microsoft.com/office/powerpoint/2010/main" val="36890779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4691" y="249382"/>
            <a:ext cx="9421091" cy="6331527"/>
          </a:xfrm>
        </p:spPr>
        <p:txBody>
          <a:bodyPr>
            <a:noAutofit/>
          </a:bodyPr>
          <a:lstStyle/>
          <a:p>
            <a:pPr marL="0" lvl="0" indent="0" algn="just">
              <a:buNone/>
            </a:pPr>
            <a:r>
              <a:rPr lang="id-ID" sz="2400" b="1" dirty="0" smtClean="0">
                <a:latin typeface="Times New Roman" panose="02020603050405020304" pitchFamily="18" charset="0"/>
                <a:cs typeface="Times New Roman" panose="02020603050405020304" pitchFamily="18" charset="0"/>
              </a:rPr>
              <a:t>3. Jenis </a:t>
            </a:r>
            <a:r>
              <a:rPr lang="id-ID" sz="2400" b="1" dirty="0">
                <a:latin typeface="Times New Roman" panose="02020603050405020304" pitchFamily="18" charset="0"/>
                <a:cs typeface="Times New Roman" panose="02020603050405020304" pitchFamily="18" charset="0"/>
              </a:rPr>
              <a:t>Pelabuhan Berdasarkan Fungsi dan Penggunaannya</a:t>
            </a:r>
            <a:endParaRPr lang="id-ID" sz="2400" dirty="0">
              <a:latin typeface="Times New Roman" panose="02020603050405020304" pitchFamily="18" charset="0"/>
              <a:cs typeface="Times New Roman" panose="02020603050405020304" pitchFamily="18" charset="0"/>
            </a:endParaRPr>
          </a:p>
          <a:p>
            <a:pPr marL="0" indent="0" algn="just">
              <a:buNone/>
            </a:pPr>
            <a:r>
              <a:rPr lang="id-ID" sz="2400" b="1" dirty="0">
                <a:latin typeface="Times New Roman" panose="02020603050405020304" pitchFamily="18" charset="0"/>
                <a:cs typeface="Times New Roman" panose="02020603050405020304" pitchFamily="18" charset="0"/>
              </a:rPr>
              <a:t>Pelabuhan Barang</a:t>
            </a:r>
            <a:endParaRPr lang="id-ID" sz="2400" dirty="0">
              <a:latin typeface="Times New Roman" panose="02020603050405020304" pitchFamily="18" charset="0"/>
              <a:cs typeface="Times New Roman" panose="02020603050405020304" pitchFamily="18" charset="0"/>
            </a:endParaRPr>
          </a:p>
          <a:p>
            <a:pPr marL="0" indent="0" algn="just">
              <a:buNone/>
            </a:pPr>
            <a:r>
              <a:rPr lang="id-ID" sz="2400" dirty="0">
                <a:latin typeface="Times New Roman" panose="02020603050405020304" pitchFamily="18" charset="0"/>
                <a:cs typeface="Times New Roman" panose="02020603050405020304" pitchFamily="18" charset="0"/>
              </a:rPr>
              <a:t>Ini pelabuhan yang khusus digunakan untuk mengangkut dan menurunkan barang. Setelah diturunkan dari kapal, barang akan disimpan dalam gudang terbuka sebelum akhirnya dikirim ke </a:t>
            </a:r>
            <a:r>
              <a:rPr lang="id-ID" sz="2400" dirty="0" smtClean="0">
                <a:latin typeface="Times New Roman" panose="02020603050405020304" pitchFamily="18" charset="0"/>
                <a:cs typeface="Times New Roman" panose="02020603050405020304" pitchFamily="18" charset="0"/>
              </a:rPr>
              <a:t>tujuan. Sebaliknya</a:t>
            </a:r>
            <a:r>
              <a:rPr lang="id-ID" sz="2400" dirty="0">
                <a:latin typeface="Times New Roman" panose="02020603050405020304" pitchFamily="18" charset="0"/>
                <a:cs typeface="Times New Roman" panose="02020603050405020304" pitchFamily="18" charset="0"/>
              </a:rPr>
              <a:t>, ketika akan diangkut, barang tersebut akan dikeluarkan dari gudang penyimpanan. Selanjutnya, saat kapal pengangkut datang, kapal ini akan membawa barang sampai tujuan</a:t>
            </a:r>
            <a:r>
              <a:rPr lang="id-ID" sz="2400" dirty="0" smtClean="0">
                <a:latin typeface="Times New Roman" panose="02020603050405020304" pitchFamily="18" charset="0"/>
                <a:cs typeface="Times New Roman" panose="02020603050405020304" pitchFamily="18" charset="0"/>
              </a:rPr>
              <a:t>.</a:t>
            </a:r>
          </a:p>
          <a:p>
            <a:pPr marL="0" indent="0" algn="just">
              <a:buNone/>
            </a:pPr>
            <a:r>
              <a:rPr lang="id-ID" sz="2400" b="1" dirty="0">
                <a:latin typeface="Times New Roman" panose="02020603050405020304" pitchFamily="18" charset="0"/>
                <a:cs typeface="Times New Roman" panose="02020603050405020304" pitchFamily="18" charset="0"/>
              </a:rPr>
              <a:t>Pelabuhan Penumpang</a:t>
            </a:r>
            <a:endParaRPr lang="id-ID" sz="2400" dirty="0">
              <a:latin typeface="Times New Roman" panose="02020603050405020304" pitchFamily="18" charset="0"/>
              <a:cs typeface="Times New Roman" panose="02020603050405020304" pitchFamily="18" charset="0"/>
            </a:endParaRPr>
          </a:p>
          <a:p>
            <a:pPr marL="0" indent="0" algn="just">
              <a:buNone/>
            </a:pPr>
            <a:r>
              <a:rPr lang="id-ID" sz="2400" dirty="0">
                <a:latin typeface="Times New Roman" panose="02020603050405020304" pitchFamily="18" charset="0"/>
                <a:cs typeface="Times New Roman" panose="02020603050405020304" pitchFamily="18" charset="0"/>
              </a:rPr>
              <a:t>Nama ini sudah tidak asing lagi bukan? Pelabuhan penumpang sering disebut juga sebagai terminal penumpang. Hal ini karena kondisi pelabuhan tersebut memang dipenuhi oleh penumpang yang naik turun </a:t>
            </a:r>
            <a:r>
              <a:rPr lang="id-ID" sz="2400" dirty="0" smtClean="0">
                <a:latin typeface="Times New Roman" panose="02020603050405020304" pitchFamily="18" charset="0"/>
                <a:cs typeface="Times New Roman" panose="02020603050405020304" pitchFamily="18" charset="0"/>
              </a:rPr>
              <a:t>kapal. Pelabuhan </a:t>
            </a:r>
            <a:r>
              <a:rPr lang="id-ID" sz="2400" dirty="0">
                <a:latin typeface="Times New Roman" panose="02020603050405020304" pitchFamily="18" charset="0"/>
                <a:cs typeface="Times New Roman" panose="02020603050405020304" pitchFamily="18" charset="0"/>
              </a:rPr>
              <a:t>ini pun dilengkapi dengan fasilitas orang yang akan bepergian, seperti ruang tunggu, toilet, keamanan, dan lain sebagainya. Untuk keluar masuknya penumpang dan barang bawaan pun disediakan jalan sendiri-sendiri.</a:t>
            </a:r>
          </a:p>
          <a:p>
            <a:pPr marL="0" indent="0">
              <a:buNone/>
            </a:pPr>
            <a:endParaRPr lang="id-ID" sz="2400" dirty="0">
              <a:latin typeface="Times New Roman" panose="02020603050405020304" pitchFamily="18" charset="0"/>
              <a:cs typeface="Times New Roman" panose="02020603050405020304" pitchFamily="18" charset="0"/>
            </a:endParaRPr>
          </a:p>
          <a:p>
            <a:pPr marL="0" indent="0">
              <a:buNone/>
            </a:pPr>
            <a:endParaRPr lang="id-ID"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36153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7091" y="429491"/>
            <a:ext cx="9171709" cy="5611871"/>
          </a:xfrm>
        </p:spPr>
        <p:txBody>
          <a:bodyPr/>
          <a:lstStyle/>
          <a:p>
            <a:pPr marL="0" indent="0" algn="just">
              <a:buNone/>
            </a:pPr>
            <a:r>
              <a:rPr lang="id-ID" sz="2400" b="1" dirty="0">
                <a:latin typeface="Times New Roman" panose="02020603050405020304" pitchFamily="18" charset="0"/>
                <a:cs typeface="Times New Roman" panose="02020603050405020304" pitchFamily="18" charset="0"/>
              </a:rPr>
              <a:t>Pelabuhan Militer</a:t>
            </a:r>
            <a:endParaRPr lang="id-ID" sz="2400" dirty="0">
              <a:latin typeface="Times New Roman" panose="02020603050405020304" pitchFamily="18" charset="0"/>
              <a:cs typeface="Times New Roman" panose="02020603050405020304" pitchFamily="18" charset="0"/>
            </a:endParaRPr>
          </a:p>
          <a:p>
            <a:pPr marL="0" indent="0" algn="just">
              <a:buNone/>
            </a:pPr>
            <a:r>
              <a:rPr lang="id-ID" sz="2400" dirty="0">
                <a:latin typeface="Times New Roman" panose="02020603050405020304" pitchFamily="18" charset="0"/>
                <a:cs typeface="Times New Roman" panose="02020603050405020304" pitchFamily="18" charset="0"/>
              </a:rPr>
              <a:t>Pelabuhan ini disusun untuk kepentingan militer. Setiap negara tentu memiliki kekuatan militer bidang kelautan. Angkatan laut tersebut membutuhkan pelabuhan untuk operasi keamanan dalam mengawasi lalu lintas laut negaranya.</a:t>
            </a:r>
          </a:p>
          <a:p>
            <a:pPr marL="0" indent="0" algn="just">
              <a:buNone/>
            </a:pPr>
            <a:r>
              <a:rPr lang="id-ID" sz="2400" dirty="0">
                <a:latin typeface="Times New Roman" panose="02020603050405020304" pitchFamily="18" charset="0"/>
                <a:cs typeface="Times New Roman" panose="02020603050405020304" pitchFamily="18" charset="0"/>
              </a:rPr>
              <a:t>Pelabuhan militer ini memiliki peran yang sangat penting. Biasanya. pelabuhan jenis ini dibangun jauh dari rumah penduduk dan memang tidak disarankan berada di dekat pemukiman.</a:t>
            </a:r>
          </a:p>
          <a:p>
            <a:pPr marL="0" indent="0" algn="just">
              <a:buNone/>
            </a:pPr>
            <a:r>
              <a:rPr lang="id-ID" sz="2400" dirty="0">
                <a:latin typeface="Times New Roman" panose="02020603050405020304" pitchFamily="18" charset="0"/>
                <a:cs typeface="Times New Roman" panose="02020603050405020304" pitchFamily="18" charset="0"/>
              </a:rPr>
              <a:t>Sampai disini sudah jelas bukan bahwa pelabuhan adalah salah satu kawasan penting yang memiliki fungsi dan manfaat untuk memudahkan mobilitas dalam kehidupan </a:t>
            </a:r>
            <a:r>
              <a:rPr lang="id-ID" sz="2400" dirty="0" smtClean="0">
                <a:latin typeface="Times New Roman" panose="02020603050405020304" pitchFamily="18" charset="0"/>
                <a:cs typeface="Times New Roman" panose="02020603050405020304" pitchFamily="18" charset="0"/>
              </a:rPr>
              <a:t>ini. Mengingat </a:t>
            </a:r>
            <a:r>
              <a:rPr lang="id-ID" sz="2400" dirty="0">
                <a:latin typeface="Times New Roman" panose="02020603050405020304" pitchFamily="18" charset="0"/>
                <a:cs typeface="Times New Roman" panose="02020603050405020304" pitchFamily="18" charset="0"/>
              </a:rPr>
              <a:t>Indonesia adalah negara maritim, maka keberadaan pelabuhan semakin penting lagi di negara ini.</a:t>
            </a:r>
          </a:p>
          <a:p>
            <a:pPr marL="0" indent="0">
              <a:buNone/>
            </a:pPr>
            <a:endParaRPr lang="id-ID" dirty="0"/>
          </a:p>
        </p:txBody>
      </p:sp>
    </p:spTree>
    <p:extLst>
      <p:ext uri="{BB962C8B-B14F-4D97-AF65-F5344CB8AC3E}">
        <p14:creationId xmlns:p14="http://schemas.microsoft.com/office/powerpoint/2010/main" val="646058465"/>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310</TotalTime>
  <Words>891</Words>
  <Application>Microsoft Office PowerPoint</Application>
  <PresentationFormat>Widescreen</PresentationFormat>
  <Paragraphs>46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Times New Roman</vt:lpstr>
      <vt:lpstr>Trebuchet MS</vt:lpstr>
      <vt:lpstr>Wingdings 3</vt:lpstr>
      <vt:lpstr>Facet</vt:lpstr>
      <vt:lpstr>KEPELABUHANAN</vt:lpstr>
      <vt:lpstr>PowerPoint Presentation</vt:lpstr>
      <vt:lpstr>FUNGSI PELABUHAN</vt:lpstr>
      <vt:lpstr>PowerPoint Presentation</vt:lpstr>
      <vt:lpstr>Manfaat Pelabuhan </vt:lpstr>
      <vt:lpstr>PowerPoint Presentation</vt:lpstr>
      <vt:lpstr>Jenis-Jenis Pelabuhan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KEPELABUHANAN</dc:title>
  <dc:creator>USER</dc:creator>
  <cp:lastModifiedBy>USER</cp:lastModifiedBy>
  <cp:revision>5</cp:revision>
  <dcterms:created xsi:type="dcterms:W3CDTF">2023-02-23T03:19:28Z</dcterms:created>
  <dcterms:modified xsi:type="dcterms:W3CDTF">2023-02-23T08:30:12Z</dcterms:modified>
</cp:coreProperties>
</file>